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3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8" d="100"/>
          <a:sy n="138" d="100"/>
        </p:scale>
        <p:origin x="11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17687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9049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173355" y="182881"/>
            <a:ext cx="8793480" cy="4783454"/>
          </a:xfrm>
          <a:prstGeom prst="rect">
            <a:avLst/>
          </a:prstGeom>
          <a:solidFill>
            <a:schemeClr val="bg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2485" y="661782"/>
            <a:ext cx="7475220" cy="219456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kumimoji="0" lang="en-US" sz="5400" b="1" i="0" u="none" strike="noStrike" kern="1200" cap="all" spc="0" normalizeH="0" baseline="0" dirty="0">
                <a:ln w="15875">
                  <a:solidFill>
                    <a:sysClr val="window" lastClr="FFFFFF"/>
                  </a:solidFill>
                </a:ln>
                <a:solidFill>
                  <a:srgbClr val="DF5327"/>
                </a:solidFill>
                <a:effectLst>
                  <a:outerShdw dist="38100" dir="2700000" algn="tl" rotWithShape="0">
                    <a:srgbClr val="DF5327"/>
                  </a:outerShdw>
                </a:effectLst>
                <a:uLnTx/>
                <a:uFillTx/>
                <a:latin typeface="+mj-lt"/>
                <a:ea typeface="+mn-ea"/>
                <a:cs typeface="+mn-cs"/>
              </a:defRPr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2148" y="2902226"/>
            <a:ext cx="6575895" cy="1041124"/>
          </a:xfrm>
        </p:spPr>
        <p:txBody>
          <a:bodyPr>
            <a:normAutofit/>
          </a:bodyPr>
          <a:lstStyle>
            <a:lvl1pPr marL="0" indent="0" algn="ctr">
              <a:buNone/>
              <a:defRPr sz="1650">
                <a:solidFill>
                  <a:schemeClr val="accent1"/>
                </a:solidFill>
              </a:defRPr>
            </a:lvl1pPr>
            <a:lvl2pPr marL="342900" indent="0" algn="ctr">
              <a:buNone/>
              <a:defRPr sz="1650"/>
            </a:lvl2pPr>
            <a:lvl3pPr marL="685800" indent="0" algn="ctr">
              <a:buNone/>
              <a:defRPr sz="165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pt-BR" smtClean="0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96DFF08F-DC6B-4601-B491-B0F83F6DD2DA}" type="datetimeFigureOut">
              <a:rPr lang="en-US" smtClean="0"/>
              <a:t>6/11/2026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483995" y="2800350"/>
            <a:ext cx="61722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87363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6/11/2026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630859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9818" y="880181"/>
            <a:ext cx="7475220" cy="2194560"/>
          </a:xfrm>
        </p:spPr>
        <p:txBody>
          <a:bodyPr anchor="b">
            <a:noAutofit/>
          </a:bodyPr>
          <a:lstStyle>
            <a:lvl1pPr marL="0" algn="ctr" defTabSz="6858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kumimoji="0" lang="en-US" sz="5400" b="1" i="0" u="none" strike="noStrike" kern="1200" cap="all" spc="0" normalizeH="0" baseline="0" dirty="0">
                <a:ln w="15875">
                  <a:solidFill>
                    <a:sysClr val="window" lastClr="FFFFFF"/>
                  </a:solidFill>
                </a:ln>
                <a:solidFill>
                  <a:srgbClr val="DF5327"/>
                </a:solidFill>
                <a:effectLst>
                  <a:outerShdw dist="38100" dir="2700000" algn="tl" rotWithShape="0">
                    <a:srgbClr val="DF5327"/>
                  </a:outerShdw>
                </a:effectLst>
                <a:uLnTx/>
                <a:uFillTx/>
                <a:latin typeface="Corbel" pitchFamily="34" charset="0"/>
                <a:ea typeface="+mn-ea"/>
                <a:cs typeface="+mn-cs"/>
              </a:defRPr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2446" y="3115890"/>
            <a:ext cx="6576822" cy="1022855"/>
          </a:xfrm>
        </p:spPr>
        <p:txBody>
          <a:bodyPr anchor="t">
            <a:normAutofit/>
          </a:bodyPr>
          <a:lstStyle>
            <a:lvl1pPr marL="0" indent="0" algn="ctr">
              <a:buNone/>
              <a:defRPr sz="1650">
                <a:solidFill>
                  <a:schemeClr val="accent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6/11/2026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1485900" y="3015306"/>
            <a:ext cx="61722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8195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7250" y="1543049"/>
            <a:ext cx="3566160" cy="301752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0709" y="1543050"/>
            <a:ext cx="3566160" cy="301752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6/11/2026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112699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250" y="1501133"/>
            <a:ext cx="3566160" cy="58293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7250" y="2041112"/>
            <a:ext cx="3566160" cy="253746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01880" y="1499274"/>
            <a:ext cx="3566160" cy="58293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01880" y="2039492"/>
            <a:ext cx="3566160" cy="253746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6/11/2026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979610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6/11/2026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2246577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6/11/2026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251468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822960"/>
            <a:ext cx="2948940" cy="130302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30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89119" y="822960"/>
            <a:ext cx="3909060" cy="349758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2125980"/>
            <a:ext cx="2948940" cy="22631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750"/>
              </a:spcBef>
              <a:buNone/>
              <a:defRPr sz="1275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6/11/2026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358214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822960"/>
            <a:ext cx="2948940" cy="130302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30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59936" y="802385"/>
            <a:ext cx="4574286" cy="360045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1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2125980"/>
            <a:ext cx="2948940" cy="216027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750"/>
              </a:spcBef>
              <a:buNone/>
              <a:defRPr sz="1275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6/11/2026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383825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6/11/2026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883968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571500"/>
            <a:ext cx="1743075" cy="4057650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7250" y="571500"/>
            <a:ext cx="5572125" cy="4057650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6/11/2026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053375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5155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173355" y="182881"/>
            <a:ext cx="8793480" cy="4783454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7250" y="457200"/>
            <a:ext cx="7406640" cy="10172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251" y="1543050"/>
            <a:ext cx="7404653" cy="30289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7247" y="4667871"/>
            <a:ext cx="1746806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accent1"/>
                </a:solidFill>
              </a:defRPr>
            </a:lvl1pPr>
          </a:lstStyle>
          <a:p>
            <a:fld id="{96DFF08F-DC6B-4601-B491-B0F83F6DD2DA}" type="datetimeFigureOut">
              <a:rPr lang="en-US" smtClean="0"/>
              <a:pPr/>
              <a:t>6/11/2026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61861" y="4667871"/>
            <a:ext cx="3538331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7148" y="4667871"/>
            <a:ext cx="127966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0070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71450" indent="-137160" algn="l" defTabSz="685800" rtl="0" eaLnBrk="1" latinLnBrk="0" hangingPunct="1">
        <a:lnSpc>
          <a:spcPct val="90000"/>
        </a:lnSpc>
        <a:spcBef>
          <a:spcPts val="1050"/>
        </a:spcBef>
        <a:buClr>
          <a:schemeClr val="accent1"/>
        </a:buClr>
        <a:buSzPct val="80000"/>
        <a:buFont typeface="Corbel" pitchFamily="34" charset="0"/>
        <a:buChar char="•"/>
        <a:defRPr sz="1650" kern="1200">
          <a:solidFill>
            <a:schemeClr val="accent1"/>
          </a:solidFill>
          <a:latin typeface="+mn-lt"/>
          <a:ea typeface="+mn-ea"/>
          <a:cs typeface="+mn-cs"/>
        </a:defRPr>
      </a:lvl1pPr>
      <a:lvl2pPr marL="34290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5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54864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350" kern="1200">
          <a:solidFill>
            <a:schemeClr val="accent1"/>
          </a:solidFill>
          <a:latin typeface="+mn-lt"/>
          <a:ea typeface="+mn-ea"/>
          <a:cs typeface="+mn-cs"/>
        </a:defRPr>
      </a:lvl3pPr>
      <a:lvl4pPr marL="75438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96012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2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2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2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4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2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165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2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18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2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43841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83141" y="142875"/>
            <a:ext cx="65" cy="2271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571500" y="1454451"/>
            <a:ext cx="4286250" cy="1885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4150" b="1" dirty="0">
                <a:solidFill>
                  <a:srgbClr val="2B193D"/>
                </a:solidFill>
                <a:latin typeface="Roboto Slab ExtraBold" pitchFamily="34" charset="0"/>
                <a:ea typeface="Roboto Slab ExtraBold" pitchFamily="34" charset="-122"/>
                <a:cs typeface="Roboto Slab ExtraBold" pitchFamily="34" charset="-120"/>
              </a:rPr>
              <a:t>Mascotes da Copa do Mundo FIFA</a:t>
            </a:r>
            <a:endParaRPr lang="en-US" sz="4150" dirty="0"/>
          </a:p>
        </p:txBody>
      </p:sp>
      <p:sp>
        <p:nvSpPr>
          <p:cNvPr id="5" name="Text 2"/>
          <p:cNvSpPr/>
          <p:nvPr/>
        </p:nvSpPr>
        <p:spPr>
          <a:xfrm>
            <a:off x="571500" y="3626151"/>
            <a:ext cx="4286250" cy="1097235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50" dirty="0">
                <a:solidFill>
                  <a:srgbClr val="4A3B52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Uma jornada visual e cultural (1966-2022) através dos símbolos que definiram as edições do maior espetáculo da Terra.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107781" y="187890"/>
            <a:ext cx="3786188" cy="3598298"/>
          </a:xfrm>
          <a:prstGeom prst="ellipse">
            <a:avLst/>
          </a:prstGeom>
          <a:solidFill>
            <a:srgbClr val="FFFFFF"/>
          </a:solidFill>
          <a:ln w="109728">
            <a:solidFill>
              <a:srgbClr val="33658A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2094" y="344465"/>
            <a:ext cx="3571875" cy="322740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93844" y="142875"/>
            <a:ext cx="65" cy="2271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571500" y="713231"/>
            <a:ext cx="8572500" cy="4518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2B193D"/>
                </a:solidFill>
                <a:latin typeface="Roboto Slab ExtraBold" pitchFamily="34" charset="0"/>
                <a:ea typeface="Roboto Slab ExtraBold" pitchFamily="34" charset="-122"/>
                <a:cs typeface="Roboto Slab ExtraBold" pitchFamily="34" charset="-120"/>
              </a:rPr>
              <a:t>O Início da Tradição (1966 - 1974)</a:t>
            </a:r>
            <a:endParaRPr lang="en-US" sz="2450" dirty="0"/>
          </a:p>
        </p:txBody>
      </p:sp>
      <p:sp>
        <p:nvSpPr>
          <p:cNvPr id="5" name="Shape 2"/>
          <p:cNvSpPr/>
          <p:nvPr/>
        </p:nvSpPr>
        <p:spPr>
          <a:xfrm>
            <a:off x="785813" y="1593698"/>
            <a:ext cx="1928813" cy="1928813"/>
          </a:xfrm>
          <a:prstGeom prst="ellipse">
            <a:avLst/>
          </a:prstGeom>
          <a:solidFill>
            <a:srgbClr val="FFFFFF"/>
          </a:solidFill>
          <a:ln w="73152">
            <a:solidFill>
              <a:srgbClr val="F26419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844" y="1772292"/>
            <a:ext cx="1428750" cy="142875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035844" y="3522511"/>
            <a:ext cx="1428750" cy="357188"/>
          </a:xfrm>
          <a:prstGeom prst="roundRect">
            <a:avLst/>
          </a:prstGeom>
          <a:solidFill>
            <a:srgbClr val="33658A"/>
          </a:solidFill>
          <a:ln/>
        </p:spPr>
      </p:sp>
      <p:sp>
        <p:nvSpPr>
          <p:cNvPr id="8" name="Text 4"/>
          <p:cNvSpPr/>
          <p:nvPr/>
        </p:nvSpPr>
        <p:spPr>
          <a:xfrm>
            <a:off x="1035844" y="3522511"/>
            <a:ext cx="1428750" cy="357188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Willie (1966)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678656" y="3986854"/>
            <a:ext cx="2143125" cy="491440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750" dirty="0">
                <a:solidFill>
                  <a:srgbClr val="4A3B52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O pioneiro, um leão britânico clássico que estabeleceu a tradição de mascotes em eventos globais.</a:t>
            </a:r>
            <a:endParaRPr lang="en-US" sz="750" dirty="0"/>
          </a:p>
        </p:txBody>
      </p:sp>
      <p:sp>
        <p:nvSpPr>
          <p:cNvPr id="10" name="Shape 6"/>
          <p:cNvSpPr/>
          <p:nvPr/>
        </p:nvSpPr>
        <p:spPr>
          <a:xfrm>
            <a:off x="3607594" y="1593698"/>
            <a:ext cx="1928813" cy="1928813"/>
          </a:xfrm>
          <a:prstGeom prst="ellipse">
            <a:avLst/>
          </a:prstGeom>
          <a:solidFill>
            <a:srgbClr val="FFFFFF"/>
          </a:solidFill>
          <a:ln w="73152">
            <a:solidFill>
              <a:srgbClr val="F26419"/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7625" y="1772292"/>
            <a:ext cx="1428750" cy="142875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3857625" y="3522511"/>
            <a:ext cx="1428750" cy="357188"/>
          </a:xfrm>
          <a:prstGeom prst="roundRect">
            <a:avLst/>
          </a:prstGeom>
          <a:solidFill>
            <a:srgbClr val="33658A"/>
          </a:solidFill>
          <a:ln/>
        </p:spPr>
      </p:sp>
      <p:sp>
        <p:nvSpPr>
          <p:cNvPr id="13" name="Text 8"/>
          <p:cNvSpPr/>
          <p:nvPr/>
        </p:nvSpPr>
        <p:spPr>
          <a:xfrm>
            <a:off x="3857625" y="3522511"/>
            <a:ext cx="1428750" cy="357188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Juanito (1970)</a:t>
            </a:r>
            <a:endParaRPr lang="en-US" sz="800" dirty="0"/>
          </a:p>
        </p:txBody>
      </p:sp>
      <p:sp>
        <p:nvSpPr>
          <p:cNvPr id="14" name="Text 9"/>
          <p:cNvSpPr/>
          <p:nvPr/>
        </p:nvSpPr>
        <p:spPr>
          <a:xfrm>
            <a:off x="3500438" y="3986854"/>
            <a:ext cx="2143125" cy="491440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750" dirty="0">
                <a:solidFill>
                  <a:srgbClr val="4A3B52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O primeiro mascote humano, um jovem torcedor com sombreiro, celebrando a hospitalidade mexicana.</a:t>
            </a:r>
            <a:endParaRPr lang="en-US" sz="750" dirty="0"/>
          </a:p>
        </p:txBody>
      </p:sp>
      <p:sp>
        <p:nvSpPr>
          <p:cNvPr id="15" name="Shape 10"/>
          <p:cNvSpPr/>
          <p:nvPr/>
        </p:nvSpPr>
        <p:spPr>
          <a:xfrm>
            <a:off x="6429375" y="1593698"/>
            <a:ext cx="1928813" cy="1928813"/>
          </a:xfrm>
          <a:prstGeom prst="ellipse">
            <a:avLst/>
          </a:prstGeom>
          <a:solidFill>
            <a:srgbClr val="FFFFFF"/>
          </a:solidFill>
          <a:ln w="73152">
            <a:solidFill>
              <a:srgbClr val="F26419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9406" y="1772292"/>
            <a:ext cx="1428750" cy="142875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6679406" y="3522511"/>
            <a:ext cx="1428750" cy="357188"/>
          </a:xfrm>
          <a:prstGeom prst="roundRect">
            <a:avLst/>
          </a:prstGeom>
          <a:solidFill>
            <a:srgbClr val="33658A"/>
          </a:solidFill>
          <a:ln/>
        </p:spPr>
      </p:sp>
      <p:sp>
        <p:nvSpPr>
          <p:cNvPr id="18" name="Text 12"/>
          <p:cNvSpPr/>
          <p:nvPr/>
        </p:nvSpPr>
        <p:spPr>
          <a:xfrm>
            <a:off x="6679406" y="3522511"/>
            <a:ext cx="1428750" cy="357188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Tip e Tap (1974)</a:t>
            </a:r>
            <a:endParaRPr lang="en-US" sz="800" dirty="0"/>
          </a:p>
        </p:txBody>
      </p:sp>
      <p:sp>
        <p:nvSpPr>
          <p:cNvPr id="19" name="Text 13"/>
          <p:cNvSpPr/>
          <p:nvPr/>
        </p:nvSpPr>
        <p:spPr>
          <a:xfrm>
            <a:off x="6322219" y="3986854"/>
            <a:ext cx="2143125" cy="491440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750" dirty="0">
                <a:solidFill>
                  <a:srgbClr val="4A3B52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Dois meninos simbolizando a amizade e a união em uma nação politicamente dividida.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8997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02773" y="142875"/>
            <a:ext cx="65" cy="2215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571500" y="856106"/>
            <a:ext cx="4675919" cy="903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2B193D"/>
                </a:solidFill>
                <a:latin typeface="Roboto Slab ExtraBold" pitchFamily="34" charset="0"/>
                <a:ea typeface="Roboto Slab ExtraBold" pitchFamily="34" charset="-122"/>
                <a:cs typeface="Roboto Slab ExtraBold" pitchFamily="34" charset="-120"/>
              </a:rPr>
              <a:t>Cores e Sabores Locais (1978 - 1986)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750094" y="2045540"/>
            <a:ext cx="4497325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B193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Gauchito (Argentina 1978)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750094" y="2270568"/>
            <a:ext cx="4139803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A3B52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Um menino com trajes típicos dos pampas, destacando a cultura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750094" y="2420587"/>
            <a:ext cx="1493044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A3B52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tradicional argentina.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750094" y="2784918"/>
            <a:ext cx="4497325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B193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Naranjito (Espanha 1982)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50094" y="3009947"/>
            <a:ext cx="4343400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A3B52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 inovação de usar uma fruta (laranja) como símbolo, tornando-se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50094" y="3159965"/>
            <a:ext cx="1968103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A3B52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um ícone pop da década de 80.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750094" y="3524297"/>
            <a:ext cx="4497325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B193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Pique (México 1986)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50094" y="3749325"/>
            <a:ext cx="4479131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A3B52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Uma pimenta jalapeño com bigode e sombreiro, trazendo o tempero da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750094" y="3899343"/>
            <a:ext cx="108585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A3B52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culinária local.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5672138" y="714375"/>
            <a:ext cx="1685925" cy="1685925"/>
          </a:xfrm>
          <a:prstGeom prst="ellipse">
            <a:avLst/>
          </a:prstGeom>
          <a:solidFill>
            <a:srgbClr val="FFFFFF"/>
          </a:solidFill>
          <a:ln w="54864">
            <a:solidFill>
              <a:srgbClr val="33658A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9313" y="857250"/>
            <a:ext cx="1285875" cy="1285875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4957763" y="2500313"/>
            <a:ext cx="1685925" cy="1685925"/>
          </a:xfrm>
          <a:prstGeom prst="ellipse">
            <a:avLst/>
          </a:prstGeom>
          <a:solidFill>
            <a:srgbClr val="FFFFFF"/>
          </a:solidFill>
          <a:ln w="54864">
            <a:solidFill>
              <a:srgbClr val="F26419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4938" y="2784918"/>
            <a:ext cx="1144145" cy="1144145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6743700" y="2500313"/>
            <a:ext cx="1685925" cy="1685925"/>
          </a:xfrm>
          <a:prstGeom prst="ellipse">
            <a:avLst/>
          </a:prstGeom>
          <a:solidFill>
            <a:srgbClr val="FFFFFF"/>
          </a:solidFill>
          <a:ln w="54864">
            <a:solidFill>
              <a:srgbClr val="33658A"/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00875" y="2643188"/>
            <a:ext cx="1285875" cy="12858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88486" y="142875"/>
            <a:ext cx="65" cy="2271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571500" y="713231"/>
            <a:ext cx="8572500" cy="4518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2B193D"/>
                </a:solidFill>
                <a:latin typeface="Roboto Slab ExtraBold" pitchFamily="34" charset="0"/>
                <a:ea typeface="Roboto Slab ExtraBold" pitchFamily="34" charset="-122"/>
                <a:cs typeface="Roboto Slab ExtraBold" pitchFamily="34" charset="-120"/>
              </a:rPr>
              <a:t>Transição e Modernidade (1990 - 1994)</a:t>
            </a:r>
            <a:endParaRPr lang="en-US" sz="2450" dirty="0"/>
          </a:p>
        </p:txBody>
      </p:sp>
      <p:sp>
        <p:nvSpPr>
          <p:cNvPr id="5" name="Shape 2"/>
          <p:cNvSpPr/>
          <p:nvPr/>
        </p:nvSpPr>
        <p:spPr>
          <a:xfrm>
            <a:off x="1426350" y="1379386"/>
            <a:ext cx="2171700" cy="1885950"/>
          </a:xfrm>
          <a:prstGeom prst="roundRect">
            <a:avLst/>
          </a:prstGeom>
          <a:solidFill>
            <a:srgbClr val="FFFFFF"/>
          </a:solidFill>
          <a:ln w="82296">
            <a:solidFill>
              <a:srgbClr val="33658A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9263" y="1593698"/>
            <a:ext cx="1285875" cy="128587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262044" y="3236761"/>
            <a:ext cx="2500313" cy="407194"/>
          </a:xfrm>
          <a:prstGeom prst="roundRect">
            <a:avLst/>
          </a:prstGeom>
          <a:solidFill>
            <a:srgbClr val="F26419"/>
          </a:solidFill>
          <a:ln/>
        </p:spPr>
      </p:sp>
      <p:sp>
        <p:nvSpPr>
          <p:cNvPr id="8" name="Text 4"/>
          <p:cNvSpPr/>
          <p:nvPr/>
        </p:nvSpPr>
        <p:spPr>
          <a:xfrm>
            <a:off x="1262044" y="3236761"/>
            <a:ext cx="2500313" cy="407194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Ciao (Itália 1990)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904856" y="3843979"/>
            <a:ext cx="3214688" cy="591452"/>
          </a:xfrm>
          <a:prstGeom prst="rect">
            <a:avLst/>
          </a:prstGeom>
          <a:noFill/>
          <a:ln/>
        </p:spPr>
        <p:txBody>
          <a:bodyPr wrap="square" lIns="0" tIns="51054" rIns="0" bIns="0" rtlCol="0" anchor="t">
            <a:spAutoFit/>
          </a:bodyPr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850" dirty="0">
                <a:solidFill>
                  <a:srgbClr val="4A3B52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Um design abstrato e geométrico feito de cubos, rompendo com o estilo tradicional de mascotes "fofos" e focando na modernidade visual.</a:t>
            </a:r>
            <a:endParaRPr lang="en-US" sz="850" dirty="0"/>
          </a:p>
        </p:txBody>
      </p:sp>
      <p:sp>
        <p:nvSpPr>
          <p:cNvPr id="10" name="Shape 6"/>
          <p:cNvSpPr/>
          <p:nvPr/>
        </p:nvSpPr>
        <p:spPr>
          <a:xfrm>
            <a:off x="5545894" y="1379386"/>
            <a:ext cx="2171700" cy="1885950"/>
          </a:xfrm>
          <a:prstGeom prst="roundRect">
            <a:avLst/>
          </a:prstGeom>
          <a:solidFill>
            <a:srgbClr val="FFFFFF"/>
          </a:solidFill>
          <a:ln w="82296">
            <a:solidFill>
              <a:srgbClr val="F26419"/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8807" y="1593698"/>
            <a:ext cx="1285875" cy="1285875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5381588" y="3236761"/>
            <a:ext cx="2500313" cy="407194"/>
          </a:xfrm>
          <a:prstGeom prst="roundRect">
            <a:avLst/>
          </a:prstGeom>
          <a:solidFill>
            <a:srgbClr val="33658A"/>
          </a:solidFill>
          <a:ln/>
        </p:spPr>
      </p:sp>
      <p:sp>
        <p:nvSpPr>
          <p:cNvPr id="13" name="Text 8"/>
          <p:cNvSpPr/>
          <p:nvPr/>
        </p:nvSpPr>
        <p:spPr>
          <a:xfrm>
            <a:off x="5381588" y="3236761"/>
            <a:ext cx="2500313" cy="407194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Striker (EUA 1994)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5024400" y="3843979"/>
            <a:ext cx="3214688" cy="591452"/>
          </a:xfrm>
          <a:prstGeom prst="rect">
            <a:avLst/>
          </a:prstGeom>
          <a:noFill/>
          <a:ln/>
        </p:spPr>
        <p:txBody>
          <a:bodyPr wrap="square" lIns="0" tIns="51054" rIns="0" bIns="0" rtlCol="0" anchor="t">
            <a:spAutoFit/>
          </a:bodyPr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850" dirty="0">
                <a:solidFill>
                  <a:srgbClr val="4A3B52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Um cão amigável escolhido pelo público, visando tornar o futebol mais acessível e carismático para o mercado norte-americano.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19" y="142875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09917" y="142875"/>
            <a:ext cx="65" cy="2271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571500" y="713231"/>
            <a:ext cx="8572500" cy="4518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2B193D"/>
                </a:solidFill>
                <a:latin typeface="Roboto Slab ExtraBold" pitchFamily="34" charset="0"/>
                <a:ea typeface="Roboto Slab ExtraBold" pitchFamily="34" charset="-122"/>
                <a:cs typeface="Roboto Slab ExtraBold" pitchFamily="34" charset="-120"/>
              </a:rPr>
              <a:t>Footix (França 1998) - O Galo Galante</a:t>
            </a:r>
            <a:endParaRPr lang="en-US" sz="2450" dirty="0"/>
          </a:p>
        </p:txBody>
      </p:sp>
      <p:sp>
        <p:nvSpPr>
          <p:cNvPr id="5" name="Shape 2"/>
          <p:cNvSpPr/>
          <p:nvPr/>
        </p:nvSpPr>
        <p:spPr>
          <a:xfrm>
            <a:off x="491098" y="1905680"/>
            <a:ext cx="2477570" cy="1035844"/>
          </a:xfrm>
          <a:prstGeom prst="rect">
            <a:avLst/>
          </a:prstGeom>
          <a:solidFill>
            <a:srgbClr val="33658A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1915167"/>
            <a:ext cx="2477570" cy="1035844"/>
          </a:xfrm>
          <a:prstGeom prst="rect">
            <a:avLst/>
          </a:prstGeom>
          <a:noFill/>
          <a:ln/>
        </p:spPr>
        <p:txBody>
          <a:bodyPr wrap="square" lIns="212598" tIns="212598" rIns="212598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Um galo azul vibrante, símbolo nacional da França, com crista vermelha, unindo as cores da bandeira.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71500" y="3165323"/>
            <a:ext cx="2397168" cy="1035844"/>
          </a:xfrm>
          <a:prstGeom prst="rect">
            <a:avLst/>
          </a:prstGeom>
          <a:solidFill>
            <a:srgbClr val="F26419"/>
          </a:solidFill>
          <a:ln/>
        </p:spPr>
      </p:sp>
      <p:sp>
        <p:nvSpPr>
          <p:cNvPr id="8" name="Text 5"/>
          <p:cNvSpPr/>
          <p:nvPr/>
        </p:nvSpPr>
        <p:spPr>
          <a:xfrm>
            <a:off x="435113" y="3165323"/>
            <a:ext cx="2477570" cy="1035844"/>
          </a:xfrm>
          <a:prstGeom prst="rect">
            <a:avLst/>
          </a:prstGeom>
          <a:noFill/>
          <a:ln/>
        </p:spPr>
        <p:txBody>
          <a:bodyPr wrap="square" lIns="212598" tIns="212598" rIns="212598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O nome é uma homenagem ao herói gaulês Asterix, unindo o esporte à cultura popular francesa.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3071785" y="1307948"/>
            <a:ext cx="3045833" cy="3071813"/>
          </a:xfrm>
          <a:prstGeom prst="ellipse">
            <a:avLst/>
          </a:prstGeom>
          <a:solidFill>
            <a:srgbClr val="FFFFFF"/>
          </a:solidFill>
          <a:ln w="109728">
            <a:solidFill>
              <a:srgbClr val="2B193D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2773" y="1607343"/>
            <a:ext cx="2500313" cy="2500313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175305" y="1808011"/>
            <a:ext cx="2500313" cy="1035844"/>
          </a:xfrm>
          <a:prstGeom prst="rect">
            <a:avLst/>
          </a:prstGeom>
          <a:solidFill>
            <a:srgbClr val="F26419"/>
          </a:solidFill>
          <a:ln/>
        </p:spPr>
      </p:sp>
      <p:sp>
        <p:nvSpPr>
          <p:cNvPr id="12" name="Text 8"/>
          <p:cNvSpPr/>
          <p:nvPr/>
        </p:nvSpPr>
        <p:spPr>
          <a:xfrm>
            <a:off x="6072188" y="1808011"/>
            <a:ext cx="2500313" cy="1035844"/>
          </a:xfrm>
          <a:prstGeom prst="rect">
            <a:avLst/>
          </a:prstGeom>
          <a:noFill/>
          <a:ln/>
        </p:spPr>
        <p:txBody>
          <a:bodyPr wrap="square" lIns="212598" tIns="212598" rIns="212598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Considerado um dos mascotes mais carismáticos e bem-sucedidos comercialmente da história.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6175305" y="3058167"/>
            <a:ext cx="2397196" cy="1035844"/>
          </a:xfrm>
          <a:prstGeom prst="rect">
            <a:avLst/>
          </a:prstGeom>
          <a:solidFill>
            <a:srgbClr val="33658A"/>
          </a:solidFill>
          <a:ln/>
        </p:spPr>
      </p:sp>
      <p:sp>
        <p:nvSpPr>
          <p:cNvPr id="14" name="Text 10"/>
          <p:cNvSpPr/>
          <p:nvPr/>
        </p:nvSpPr>
        <p:spPr>
          <a:xfrm>
            <a:off x="6072188" y="3058167"/>
            <a:ext cx="2500313" cy="1035844"/>
          </a:xfrm>
          <a:prstGeom prst="rect">
            <a:avLst/>
          </a:prstGeom>
          <a:noFill/>
          <a:ln/>
        </p:spPr>
        <p:txBody>
          <a:bodyPr wrap="square" lIns="212598" tIns="212598" rIns="212598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Representou a "Geração Black-Blanc-Beur" e a celebração da diversidade na vitória francesa.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90272" y="142875"/>
            <a:ext cx="65" cy="2215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endParaRPr lang="en-US" dirty="0"/>
          </a:p>
        </p:txBody>
      </p:sp>
      <p:sp>
        <p:nvSpPr>
          <p:cNvPr id="4" name="Shape 1"/>
          <p:cNvSpPr/>
          <p:nvPr/>
        </p:nvSpPr>
        <p:spPr>
          <a:xfrm>
            <a:off x="255222" y="485775"/>
            <a:ext cx="3386138" cy="4457700"/>
          </a:xfrm>
          <a:prstGeom prst="roundRect">
            <a:avLst/>
          </a:prstGeom>
          <a:solidFill>
            <a:srgbClr val="FFFFFF"/>
          </a:solidFill>
          <a:ln w="82296">
            <a:solidFill>
              <a:srgbClr val="33658A"/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540" y="750094"/>
            <a:ext cx="2857500" cy="392906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896581" y="1141856"/>
            <a:ext cx="4675919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450" b="1" dirty="0">
                <a:solidFill>
                  <a:srgbClr val="2B193D"/>
                </a:solidFill>
                <a:latin typeface="Roboto Slab ExtraBold" pitchFamily="34" charset="0"/>
                <a:ea typeface="Roboto Slab ExtraBold" pitchFamily="34" charset="-122"/>
                <a:cs typeface="Roboto Slab ExtraBold" pitchFamily="34" charset="-120"/>
              </a:rPr>
              <a:t>Os Spheriks (2002)
O Futuro Digital</a:t>
            </a:r>
            <a:endParaRPr lang="en-US" sz="2450" dirty="0"/>
          </a:p>
        </p:txBody>
      </p:sp>
      <p:sp>
        <p:nvSpPr>
          <p:cNvPr id="7" name="Text 3"/>
          <p:cNvSpPr/>
          <p:nvPr/>
        </p:nvSpPr>
        <p:spPr>
          <a:xfrm>
            <a:off x="3896581" y="2700589"/>
            <a:ext cx="4675919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F2641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Ato, Kaz e Nik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3896581" y="2959884"/>
            <a:ext cx="4377333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A3B52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Criaturas alienígenas criadas inteiramente por computação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3896581" y="3165602"/>
            <a:ext cx="2841427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A3B52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gráfica para a primeira Copa na Ásia.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3896581" y="3532054"/>
            <a:ext cx="4675919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F2641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Liderança Tecnológica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3896581" y="3791350"/>
            <a:ext cx="4530923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A3B52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Refletiam o pioneirismo digital da Coreia do Sul e do Japão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3896581" y="3997068"/>
            <a:ext cx="1996678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A3B52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no início do novo milênio.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3896581" y="4363520"/>
            <a:ext cx="4675919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F2641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Energia e Inovação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3896581" y="4622816"/>
            <a:ext cx="4223742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A3B52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Representam a modernidade de um torneio sediado em dois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3896581" y="4828533"/>
            <a:ext cx="2841427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A3B52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países pela primeira vez na história.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08131" y="142875"/>
            <a:ext cx="65" cy="2271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endParaRPr lang="en-US" dirty="0"/>
          </a:p>
        </p:txBody>
      </p:sp>
      <p:sp>
        <p:nvSpPr>
          <p:cNvPr id="4" name="Shape 1"/>
          <p:cNvSpPr/>
          <p:nvPr/>
        </p:nvSpPr>
        <p:spPr>
          <a:xfrm>
            <a:off x="55197" y="821531"/>
            <a:ext cx="3786188" cy="3786188"/>
          </a:xfrm>
          <a:prstGeom prst="ellipse">
            <a:avLst/>
          </a:prstGeom>
          <a:solidFill>
            <a:srgbClr val="FFFFFF"/>
          </a:solidFill>
          <a:ln w="109728">
            <a:solidFill>
              <a:srgbClr val="F26419"/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947" y="1107281"/>
            <a:ext cx="3214688" cy="321468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896581" y="1034532"/>
            <a:ext cx="4675919" cy="848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2750" b="1" dirty="0">
                <a:solidFill>
                  <a:srgbClr val="2B193D"/>
                </a:solidFill>
                <a:latin typeface="Roboto Slab ExtraBold" pitchFamily="34" charset="0"/>
                <a:ea typeface="Roboto Slab ExtraBold" pitchFamily="34" charset="-122"/>
                <a:cs typeface="Roboto Slab ExtraBold" pitchFamily="34" charset="-120"/>
              </a:rPr>
              <a:t>Goleo VI e Pille (Alemanha 2006)</a:t>
            </a:r>
            <a:endParaRPr lang="en-US" sz="2750" dirty="0"/>
          </a:p>
        </p:txBody>
      </p:sp>
      <p:sp>
        <p:nvSpPr>
          <p:cNvPr id="7" name="Shape 3"/>
          <p:cNvSpPr/>
          <p:nvPr/>
        </p:nvSpPr>
        <p:spPr>
          <a:xfrm>
            <a:off x="3896581" y="2168937"/>
            <a:ext cx="4675919" cy="657225"/>
          </a:xfrm>
          <a:prstGeom prst="rect">
            <a:avLst/>
          </a:prstGeom>
          <a:solidFill>
            <a:srgbClr val="33658A"/>
          </a:solidFill>
          <a:ln/>
        </p:spPr>
      </p:sp>
      <p:sp>
        <p:nvSpPr>
          <p:cNvPr id="8" name="Text 4"/>
          <p:cNvSpPr/>
          <p:nvPr/>
        </p:nvSpPr>
        <p:spPr>
          <a:xfrm>
            <a:off x="4068031" y="2317533"/>
            <a:ext cx="4333019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Um leão falante (Goleo) acompanhado de uma bola de futebol com personalidade própria (Pille).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3896581" y="2940462"/>
            <a:ext cx="4675919" cy="657225"/>
          </a:xfrm>
          <a:prstGeom prst="rect">
            <a:avLst/>
          </a:prstGeom>
          <a:solidFill>
            <a:srgbClr val="33658A"/>
          </a:solidFill>
          <a:ln/>
        </p:spPr>
      </p:sp>
      <p:sp>
        <p:nvSpPr>
          <p:cNvPr id="10" name="Text 6"/>
          <p:cNvSpPr/>
          <p:nvPr/>
        </p:nvSpPr>
        <p:spPr>
          <a:xfrm>
            <a:off x="4068031" y="3089058"/>
            <a:ext cx="4333019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 escolha de um boneco físico, em vez de animação, focou na interação direta com os torcedores.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3896581" y="3711987"/>
            <a:ext cx="4675919" cy="657225"/>
          </a:xfrm>
          <a:prstGeom prst="rect">
            <a:avLst/>
          </a:prstGeom>
          <a:solidFill>
            <a:srgbClr val="33658A"/>
          </a:solidFill>
          <a:ln/>
        </p:spPr>
      </p:sp>
      <p:sp>
        <p:nvSpPr>
          <p:cNvPr id="12" name="Text 8"/>
          <p:cNvSpPr/>
          <p:nvPr/>
        </p:nvSpPr>
        <p:spPr>
          <a:xfrm>
            <a:off x="4068031" y="3860583"/>
            <a:ext cx="4333019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O mascote simbolizou a hospitalidade alemã sob o lema "O tempo de fazer amigos".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04559" y="142875"/>
            <a:ext cx="65" cy="2271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endParaRPr lang="en-US" dirty="0"/>
          </a:p>
        </p:txBody>
      </p:sp>
      <p:sp>
        <p:nvSpPr>
          <p:cNvPr id="4" name="Shape 1"/>
          <p:cNvSpPr/>
          <p:nvPr/>
        </p:nvSpPr>
        <p:spPr>
          <a:xfrm>
            <a:off x="233790" y="1000125"/>
            <a:ext cx="3429000" cy="3429000"/>
          </a:xfrm>
          <a:prstGeom prst="ellipse">
            <a:avLst/>
          </a:prstGeom>
          <a:solidFill>
            <a:srgbClr val="FFFFFF"/>
          </a:solidFill>
          <a:ln w="109728">
            <a:solidFill>
              <a:srgbClr val="F26419"/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959" y="1442153"/>
            <a:ext cx="2652778" cy="265277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896581" y="857250"/>
            <a:ext cx="1507331" cy="285750"/>
          </a:xfrm>
          <a:prstGeom prst="roundRect">
            <a:avLst/>
          </a:prstGeom>
          <a:solidFill>
            <a:srgbClr val="33658A"/>
          </a:solidFill>
          <a:ln/>
        </p:spPr>
      </p:sp>
      <p:sp>
        <p:nvSpPr>
          <p:cNvPr id="7" name="Text 3"/>
          <p:cNvSpPr/>
          <p:nvPr/>
        </p:nvSpPr>
        <p:spPr>
          <a:xfrm>
            <a:off x="3896581" y="857250"/>
            <a:ext cx="1507331" cy="285750"/>
          </a:xfrm>
          <a:prstGeom prst="rect">
            <a:avLst/>
          </a:prstGeom>
          <a:noFill/>
          <a:ln/>
        </p:spPr>
        <p:txBody>
          <a:bodyPr wrap="square" lIns="170053" tIns="68072" rIns="170053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África do Sul 2010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3896581" y="1534762"/>
            <a:ext cx="4675919" cy="4114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450" b="1" dirty="0">
                <a:solidFill>
                  <a:srgbClr val="2B193D"/>
                </a:solidFill>
                <a:latin typeface="Roboto Slab ExtraBold" pitchFamily="34" charset="0"/>
                <a:ea typeface="Roboto Slab ExtraBold" pitchFamily="34" charset="-122"/>
                <a:cs typeface="Roboto Slab ExtraBold" pitchFamily="34" charset="-120"/>
              </a:rPr>
              <a:t>Zakumi: O Espírito Africano</a:t>
            </a:r>
            <a:endParaRPr lang="en-US" sz="2450" dirty="0"/>
          </a:p>
        </p:txBody>
      </p:sp>
      <p:sp>
        <p:nvSpPr>
          <p:cNvPr id="9" name="Text 5"/>
          <p:cNvSpPr/>
          <p:nvPr/>
        </p:nvSpPr>
        <p:spPr>
          <a:xfrm>
            <a:off x="3896581" y="2574875"/>
            <a:ext cx="4675919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4A3B52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Identidade:</a:t>
            </a:r>
            <a:r>
              <a:rPr lang="en-US" sz="950" dirty="0">
                <a:solidFill>
                  <a:srgbClr val="4A3B52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Um leopardo com cabelos verdes, representando as cores vibrantes da bandeira sul-africana.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3896581" y="3129186"/>
            <a:ext cx="4675919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4A3B52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Etimologia:</a:t>
            </a:r>
            <a:r>
              <a:rPr lang="en-US" sz="950" dirty="0">
                <a:solidFill>
                  <a:srgbClr val="4A3B52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O nome combina "ZA" (África do Sul) e "kumi" (dez, o ano da Copa em diversas línguas africanas).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3896581" y="3683496"/>
            <a:ext cx="4675919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4A3B52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Simbolismo:</a:t>
            </a:r>
            <a:r>
              <a:rPr lang="en-US" sz="950" dirty="0">
                <a:solidFill>
                  <a:srgbClr val="4A3B52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Representa a natureza selvagem, a energia e a alegria contagiante do continente africano.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815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93844" y="142875"/>
            <a:ext cx="65" cy="2271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571500" y="998981"/>
            <a:ext cx="4675919" cy="7543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2450" b="1" dirty="0">
                <a:solidFill>
                  <a:srgbClr val="2B193D"/>
                </a:solidFill>
                <a:latin typeface="Roboto Slab ExtraBold" pitchFamily="34" charset="0"/>
                <a:ea typeface="Roboto Slab ExtraBold" pitchFamily="34" charset="-122"/>
                <a:cs typeface="Roboto Slab ExtraBold" pitchFamily="34" charset="-120"/>
              </a:rPr>
              <a:t>Fuleco (Brasil 2014)
Futebol e Ecologia</a:t>
            </a:r>
            <a:endParaRPr lang="en-US" sz="2450" dirty="0"/>
          </a:p>
        </p:txBody>
      </p:sp>
      <p:sp>
        <p:nvSpPr>
          <p:cNvPr id="5" name="Shape 2"/>
          <p:cNvSpPr/>
          <p:nvPr/>
        </p:nvSpPr>
        <p:spPr>
          <a:xfrm>
            <a:off x="571500" y="2039066"/>
            <a:ext cx="4675919" cy="952240"/>
          </a:xfrm>
          <a:prstGeom prst="rect">
            <a:avLst/>
          </a:prstGeom>
          <a:solidFill>
            <a:srgbClr val="33658A"/>
          </a:solidFill>
          <a:ln/>
        </p:spPr>
      </p:sp>
      <p:sp>
        <p:nvSpPr>
          <p:cNvPr id="6" name="Text 3"/>
          <p:cNvSpPr/>
          <p:nvPr/>
        </p:nvSpPr>
        <p:spPr>
          <a:xfrm>
            <a:off x="785813" y="2217660"/>
            <a:ext cx="4247294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Espécie Nativa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85813" y="2556988"/>
            <a:ext cx="4247294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Um tatu-bola, espécie da Caatinga que se fecha em forma de bola quando ameaçada, unindo o animal ao esporte.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571500" y="3134181"/>
            <a:ext cx="4675919" cy="952240"/>
          </a:xfrm>
          <a:prstGeom prst="rect">
            <a:avLst/>
          </a:prstGeom>
          <a:solidFill>
            <a:srgbClr val="F26419"/>
          </a:solidFill>
          <a:ln/>
        </p:spPr>
      </p:sp>
      <p:sp>
        <p:nvSpPr>
          <p:cNvPr id="9" name="Text 6"/>
          <p:cNvSpPr/>
          <p:nvPr/>
        </p:nvSpPr>
        <p:spPr>
          <a:xfrm>
            <a:off x="785813" y="3312775"/>
            <a:ext cx="4247294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Consciência Ambiental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85813" y="3652103"/>
            <a:ext cx="4247294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O nome é uma junção de "Futebol" e "Ecologia", promovendo a sustentabilidade e a preservação da fauna brasileira.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571500" y="4229295"/>
            <a:ext cx="4675919" cy="952240"/>
          </a:xfrm>
          <a:prstGeom prst="rect">
            <a:avLst/>
          </a:prstGeom>
          <a:solidFill>
            <a:srgbClr val="33658A"/>
          </a:solidFill>
          <a:ln/>
        </p:spPr>
      </p:sp>
      <p:sp>
        <p:nvSpPr>
          <p:cNvPr id="12" name="Text 9"/>
          <p:cNvSpPr/>
          <p:nvPr/>
        </p:nvSpPr>
        <p:spPr>
          <a:xfrm>
            <a:off x="785813" y="4407889"/>
            <a:ext cx="4247294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Orgulho Nacional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85813" y="4747217"/>
            <a:ext cx="4247294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Foi uma ferramenta poderosa para conscientizar sobre a preservação ambiental em um cenário global.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5374053" y="911972"/>
            <a:ext cx="3643313" cy="3643313"/>
          </a:xfrm>
          <a:prstGeom prst="ellipse">
            <a:avLst/>
          </a:prstGeom>
          <a:solidFill>
            <a:srgbClr val="FFFFFF"/>
          </a:solidFill>
          <a:ln w="109728">
            <a:solidFill>
              <a:srgbClr val="2B193D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5522" y="1233441"/>
            <a:ext cx="3000375" cy="30003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83141" y="142875"/>
            <a:ext cx="65" cy="2271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571500" y="1034532"/>
            <a:ext cx="4675919" cy="4243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2750" b="1" dirty="0">
                <a:solidFill>
                  <a:srgbClr val="2B193D"/>
                </a:solidFill>
                <a:latin typeface="Roboto Slab ExtraBold" pitchFamily="34" charset="0"/>
                <a:ea typeface="Roboto Slab ExtraBold" pitchFamily="34" charset="-122"/>
                <a:cs typeface="Roboto Slab ExtraBold" pitchFamily="34" charset="-120"/>
              </a:rPr>
              <a:t>Zabivaka (Rússia 2018)</a:t>
            </a:r>
            <a:endParaRPr lang="en-US" sz="2750" dirty="0"/>
          </a:p>
        </p:txBody>
      </p:sp>
      <p:sp>
        <p:nvSpPr>
          <p:cNvPr id="5" name="Shape 2"/>
          <p:cNvSpPr/>
          <p:nvPr/>
        </p:nvSpPr>
        <p:spPr>
          <a:xfrm>
            <a:off x="571500" y="1744610"/>
            <a:ext cx="4675919" cy="892969"/>
          </a:xfrm>
          <a:prstGeom prst="rect">
            <a:avLst/>
          </a:prstGeom>
          <a:solidFill>
            <a:srgbClr val="33658A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1744610"/>
            <a:ext cx="4675919" cy="892969"/>
          </a:xfrm>
          <a:prstGeom prst="rect">
            <a:avLst/>
          </a:prstGeom>
          <a:noFill/>
          <a:ln/>
        </p:spPr>
        <p:txBody>
          <a:bodyPr wrap="square" lIns="255143" tIns="212598" rIns="255143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Um lobo siberiano alegre e charmoso, escolhido por milhões de russos em uma votação popular massiva.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571500" y="2816172"/>
            <a:ext cx="4675919" cy="892969"/>
          </a:xfrm>
          <a:prstGeom prst="rect">
            <a:avLst/>
          </a:prstGeom>
          <a:solidFill>
            <a:srgbClr val="F26419"/>
          </a:solidFill>
          <a:ln/>
        </p:spPr>
      </p:sp>
      <p:sp>
        <p:nvSpPr>
          <p:cNvPr id="8" name="Text 5"/>
          <p:cNvSpPr/>
          <p:nvPr/>
        </p:nvSpPr>
        <p:spPr>
          <a:xfrm>
            <a:off x="571500" y="2816172"/>
            <a:ext cx="4675919" cy="892969"/>
          </a:xfrm>
          <a:prstGeom prst="rect">
            <a:avLst/>
          </a:prstGeom>
          <a:noFill/>
          <a:ln/>
        </p:spPr>
        <p:txBody>
          <a:bodyPr wrap="square" lIns="255143" tIns="212598" rIns="255143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Seu nome significa literalmente "aquele que marca o gol" em russo, refletindo o espírito do jogo.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374053" y="892969"/>
            <a:ext cx="3643313" cy="3643313"/>
          </a:xfrm>
          <a:prstGeom prst="ellipse">
            <a:avLst/>
          </a:prstGeom>
          <a:solidFill>
            <a:srgbClr val="FFFFFF"/>
          </a:solidFill>
          <a:ln w="109728">
            <a:solidFill>
              <a:srgbClr val="2B193D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5522" y="1137391"/>
            <a:ext cx="3000375" cy="30003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86725" y="142875"/>
            <a:ext cx="65" cy="2271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571500" y="998981"/>
            <a:ext cx="4714875" cy="7543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2450" b="1" dirty="0">
                <a:solidFill>
                  <a:srgbClr val="2B193D"/>
                </a:solidFill>
                <a:latin typeface="Roboto Slab ExtraBold" pitchFamily="34" charset="0"/>
                <a:ea typeface="Roboto Slab ExtraBold" pitchFamily="34" charset="-122"/>
                <a:cs typeface="Roboto Slab ExtraBold" pitchFamily="34" charset="-120"/>
              </a:rPr>
              <a:t>La'eeb (Catar 2022)
O Mascote do Metaverso</a:t>
            </a:r>
            <a:endParaRPr lang="en-US" sz="2450" dirty="0"/>
          </a:p>
        </p:txBody>
      </p:sp>
      <p:sp>
        <p:nvSpPr>
          <p:cNvPr id="5" name="Shape 2"/>
          <p:cNvSpPr/>
          <p:nvPr/>
        </p:nvSpPr>
        <p:spPr>
          <a:xfrm>
            <a:off x="571500" y="2039066"/>
            <a:ext cx="4714875" cy="785813"/>
          </a:xfrm>
          <a:prstGeom prst="rect">
            <a:avLst/>
          </a:prstGeom>
          <a:solidFill>
            <a:srgbClr val="33658A"/>
          </a:solidFill>
          <a:ln/>
        </p:spPr>
      </p:sp>
      <p:sp>
        <p:nvSpPr>
          <p:cNvPr id="6" name="Text 3"/>
          <p:cNvSpPr/>
          <p:nvPr/>
        </p:nvSpPr>
        <p:spPr>
          <a:xfrm>
            <a:off x="785813" y="2323393"/>
            <a:ext cx="4286250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Um lenço de cabeça árabe (Keffiyeh) animado que habita um universo paralelo místico de mascotes.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571500" y="2967754"/>
            <a:ext cx="4714875" cy="785813"/>
          </a:xfrm>
          <a:prstGeom prst="rect">
            <a:avLst/>
          </a:prstGeom>
          <a:solidFill>
            <a:srgbClr val="F26419"/>
          </a:solidFill>
          <a:ln/>
        </p:spPr>
      </p:sp>
      <p:sp>
        <p:nvSpPr>
          <p:cNvPr id="8" name="Text 5"/>
          <p:cNvSpPr/>
          <p:nvPr/>
        </p:nvSpPr>
        <p:spPr>
          <a:xfrm>
            <a:off x="785813" y="3252081"/>
            <a:ext cx="4286250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O nome significa "jogador super-habilidoso", destacando o talento técnico e a agilidade no futebol.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71500" y="3896441"/>
            <a:ext cx="4714875" cy="785813"/>
          </a:xfrm>
          <a:prstGeom prst="rect">
            <a:avLst/>
          </a:prstGeom>
          <a:solidFill>
            <a:srgbClr val="33658A"/>
          </a:solidFill>
          <a:ln/>
        </p:spPr>
      </p:sp>
      <p:sp>
        <p:nvSpPr>
          <p:cNvPr id="10" name="Text 7"/>
          <p:cNvSpPr/>
          <p:nvPr/>
        </p:nvSpPr>
        <p:spPr>
          <a:xfrm>
            <a:off x="785813" y="4180768"/>
            <a:ext cx="4286250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Trouxe uma abordagem digital e etérea, conectando tradições ancestrais ao futuro tecnológico do esporte.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393531" y="892969"/>
            <a:ext cx="3643313" cy="3643313"/>
          </a:xfrm>
          <a:prstGeom prst="ellipse">
            <a:avLst/>
          </a:prstGeom>
          <a:solidFill>
            <a:srgbClr val="FFFFFF"/>
          </a:solidFill>
          <a:ln w="109728">
            <a:solidFill>
              <a:srgbClr val="2B193D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1214438"/>
            <a:ext cx="3000375" cy="30003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97428" y="142875"/>
            <a:ext cx="65" cy="2271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1601986" y="1093831"/>
            <a:ext cx="5940028" cy="601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2B193D"/>
                </a:solidFill>
                <a:latin typeface="Roboto Slab ExtraBold" pitchFamily="34" charset="0"/>
                <a:ea typeface="Roboto Slab ExtraBold" pitchFamily="34" charset="-122"/>
                <a:cs typeface="Roboto Slab ExtraBold" pitchFamily="34" charset="-120"/>
              </a:rPr>
              <a:t>Evolução e Legado Cultural</a:t>
            </a:r>
            <a:endParaRPr lang="en-US" sz="3300" dirty="0"/>
          </a:p>
        </p:txBody>
      </p:sp>
      <p:sp>
        <p:nvSpPr>
          <p:cNvPr id="5" name="Shape 2"/>
          <p:cNvSpPr/>
          <p:nvPr/>
        </p:nvSpPr>
        <p:spPr>
          <a:xfrm>
            <a:off x="1357313" y="1838567"/>
            <a:ext cx="6429375" cy="800100"/>
          </a:xfrm>
          <a:prstGeom prst="rect">
            <a:avLst/>
          </a:prstGeom>
          <a:solidFill>
            <a:srgbClr val="33658A"/>
          </a:solidFill>
          <a:ln/>
        </p:spPr>
      </p:sp>
      <p:sp>
        <p:nvSpPr>
          <p:cNvPr id="6" name="Text 3"/>
          <p:cNvSpPr/>
          <p:nvPr/>
        </p:nvSpPr>
        <p:spPr>
          <a:xfrm>
            <a:off x="1357313" y="1838567"/>
            <a:ext cx="6429375" cy="800100"/>
          </a:xfrm>
          <a:prstGeom prst="rect">
            <a:avLst/>
          </a:prstGeom>
          <a:noFill/>
          <a:ln/>
        </p:spPr>
        <p:txBody>
          <a:bodyPr wrap="square" lIns="306197" tIns="51054" rIns="306197" bIns="51054" rtlCol="0" anchor="ctr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Os mascotes deixaram de ser apenas "brinquedos" para se tornarem embaixadores culturais de suas nações em um palco global.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1357313" y="2724392"/>
            <a:ext cx="6429375" cy="800100"/>
          </a:xfrm>
          <a:prstGeom prst="rect">
            <a:avLst/>
          </a:prstGeom>
          <a:solidFill>
            <a:srgbClr val="F26419"/>
          </a:solidFill>
          <a:ln/>
        </p:spPr>
      </p:sp>
      <p:sp>
        <p:nvSpPr>
          <p:cNvPr id="8" name="Text 5"/>
          <p:cNvSpPr/>
          <p:nvPr/>
        </p:nvSpPr>
        <p:spPr>
          <a:xfrm>
            <a:off x="1357313" y="2724392"/>
            <a:ext cx="6429375" cy="800100"/>
          </a:xfrm>
          <a:prstGeom prst="rect">
            <a:avLst/>
          </a:prstGeom>
          <a:noFill/>
          <a:ln/>
        </p:spPr>
        <p:txBody>
          <a:bodyPr wrap="square" lIns="306197" tIns="51054" rIns="306197" bIns="51054" rtlCol="0" anchor="ctr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 evolução visual acompanha a história do design e da tecnologia, transitando da animação 2D ao 3D e ao universo digital.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1357313" y="3610217"/>
            <a:ext cx="6429375" cy="800100"/>
          </a:xfrm>
          <a:prstGeom prst="rect">
            <a:avLst/>
          </a:prstGeom>
          <a:solidFill>
            <a:srgbClr val="33658A"/>
          </a:solidFill>
          <a:ln/>
        </p:spPr>
      </p:sp>
      <p:sp>
        <p:nvSpPr>
          <p:cNvPr id="10" name="Text 7"/>
          <p:cNvSpPr/>
          <p:nvPr/>
        </p:nvSpPr>
        <p:spPr>
          <a:xfrm>
            <a:off x="1357313" y="3610217"/>
            <a:ext cx="6429375" cy="800100"/>
          </a:xfrm>
          <a:prstGeom prst="rect">
            <a:avLst/>
          </a:prstGeom>
          <a:noFill/>
          <a:ln/>
        </p:spPr>
        <p:txBody>
          <a:bodyPr wrap="square" lIns="306197" tIns="51054" rIns="306197" bIns="51054" rtlCol="0" anchor="ctr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Eles permanecem na memória afetiva dos torcedores, imortalizando o espírito e a identidade de cada edição da Copa do Mundo.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97428" y="142875"/>
            <a:ext cx="65" cy="2271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1601986" y="1093831"/>
            <a:ext cx="5940028" cy="507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endParaRPr lang="en-US" sz="3300" dirty="0"/>
          </a:p>
        </p:txBody>
      </p:sp>
      <p:sp>
        <p:nvSpPr>
          <p:cNvPr id="5" name="Shape 2"/>
          <p:cNvSpPr/>
          <p:nvPr/>
        </p:nvSpPr>
        <p:spPr>
          <a:xfrm>
            <a:off x="1357313" y="1838567"/>
            <a:ext cx="6429375" cy="800100"/>
          </a:xfrm>
          <a:prstGeom prst="rect">
            <a:avLst/>
          </a:prstGeom>
          <a:solidFill>
            <a:srgbClr val="33658A"/>
          </a:solidFill>
          <a:ln/>
        </p:spPr>
      </p:sp>
      <p:sp>
        <p:nvSpPr>
          <p:cNvPr id="6" name="Text 3"/>
          <p:cNvSpPr/>
          <p:nvPr/>
        </p:nvSpPr>
        <p:spPr>
          <a:xfrm>
            <a:off x="1357313" y="2097104"/>
            <a:ext cx="6429375" cy="283026"/>
          </a:xfrm>
          <a:prstGeom prst="rect">
            <a:avLst/>
          </a:prstGeom>
          <a:noFill/>
          <a:ln/>
        </p:spPr>
        <p:txBody>
          <a:bodyPr wrap="square" lIns="306197" tIns="51054" rIns="306197" bIns="51054" rtlCol="0" anchor="ctr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1357313" y="2695493"/>
            <a:ext cx="6429375" cy="800100"/>
          </a:xfrm>
          <a:prstGeom prst="rect">
            <a:avLst/>
          </a:prstGeom>
          <a:solidFill>
            <a:srgbClr val="F26419"/>
          </a:solidFill>
          <a:ln/>
        </p:spPr>
        <p:txBody>
          <a:bodyPr/>
          <a:lstStyle/>
          <a:p>
            <a:r>
              <a:rPr lang="en-US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.</a:t>
            </a:r>
            <a:endParaRPr lang="en-US" dirty="0"/>
          </a:p>
          <a:p>
            <a:endParaRPr lang="pt-BR" dirty="0"/>
          </a:p>
        </p:txBody>
      </p:sp>
      <p:sp>
        <p:nvSpPr>
          <p:cNvPr id="8" name="Text 5"/>
          <p:cNvSpPr/>
          <p:nvPr/>
        </p:nvSpPr>
        <p:spPr>
          <a:xfrm>
            <a:off x="1357313" y="2982929"/>
            <a:ext cx="6429375" cy="283026"/>
          </a:xfrm>
          <a:prstGeom prst="rect">
            <a:avLst/>
          </a:prstGeom>
          <a:noFill/>
          <a:ln/>
        </p:spPr>
        <p:txBody>
          <a:bodyPr wrap="square" lIns="306197" tIns="51054" rIns="306197" bIns="51054" rtlCol="0" anchor="ctr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1357313" y="3610217"/>
            <a:ext cx="6429375" cy="800100"/>
          </a:xfrm>
          <a:prstGeom prst="rect">
            <a:avLst/>
          </a:prstGeom>
          <a:solidFill>
            <a:srgbClr val="33658A"/>
          </a:solidFill>
          <a:ln/>
        </p:spPr>
      </p:sp>
      <p:sp>
        <p:nvSpPr>
          <p:cNvPr id="10" name="Text 7"/>
          <p:cNvSpPr/>
          <p:nvPr/>
        </p:nvSpPr>
        <p:spPr>
          <a:xfrm>
            <a:off x="1357313" y="3868754"/>
            <a:ext cx="6429375" cy="283026"/>
          </a:xfrm>
          <a:prstGeom prst="rect">
            <a:avLst/>
          </a:prstGeom>
          <a:noFill/>
          <a:ln/>
        </p:spPr>
        <p:txBody>
          <a:bodyPr wrap="square" lIns="306197" tIns="51054" rIns="306197" bIns="51054" rtlCol="0" anchor="ctr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Roboto Mono" pitchFamily="34" charset="0"/>
                <a:ea typeface="Roboto Mono" pitchFamily="34" charset="-122"/>
              </a:rPr>
              <a:t>Trabalho</a:t>
            </a:r>
            <a:r>
              <a:rPr lang="en-US" sz="105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Roboto Mono" pitchFamily="34" charset="0"/>
                <a:ea typeface="Roboto Mono" pitchFamily="34" charset="-122"/>
              </a:rPr>
              <a:t> de </a:t>
            </a:r>
            <a:r>
              <a:rPr lang="en-US" sz="105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Roboto Mono" pitchFamily="34" charset="0"/>
                <a:ea typeface="Roboto Mono" pitchFamily="34" charset="-122"/>
              </a:rPr>
              <a:t>Educação</a:t>
            </a:r>
            <a:r>
              <a:rPr lang="en-US" sz="105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Roboto Mono" pitchFamily="34" charset="0"/>
                <a:ea typeface="Roboto Mono" pitchFamily="34" charset="-122"/>
              </a:rPr>
              <a:t> </a:t>
            </a:r>
            <a:r>
              <a:rPr lang="en-US" sz="105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Roboto Mono" pitchFamily="34" charset="0"/>
                <a:ea typeface="Roboto Mono" pitchFamily="34" charset="-122"/>
              </a:rPr>
              <a:t>F</a:t>
            </a:r>
            <a:r>
              <a:rPr lang="en-US" sz="105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Roboto Mono" pitchFamily="34" charset="0"/>
                <a:ea typeface="Roboto Mono" pitchFamily="34" charset="-122"/>
              </a:rPr>
              <a:t>i</a:t>
            </a:r>
            <a:r>
              <a:rPr lang="en-US" sz="105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Roboto Mono" pitchFamily="34" charset="0"/>
                <a:ea typeface="Roboto Mono" pitchFamily="34" charset="-122"/>
              </a:rPr>
              <a:t>sica</a:t>
            </a:r>
            <a:endParaRPr lang="en-US" sz="1050" dirty="0"/>
          </a:p>
        </p:txBody>
      </p:sp>
      <p:sp>
        <p:nvSpPr>
          <p:cNvPr id="11" name="CaixaDeTexto 10"/>
          <p:cNvSpPr txBox="1"/>
          <p:nvPr/>
        </p:nvSpPr>
        <p:spPr>
          <a:xfrm>
            <a:off x="1484222" y="1825572"/>
            <a:ext cx="54153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 smtClean="0"/>
              <a:t>Prof</a:t>
            </a:r>
            <a:r>
              <a:rPr lang="pt-BR" dirty="0" smtClean="0"/>
              <a:t>: Gustavo e Sabrina</a:t>
            </a:r>
            <a:endParaRPr lang="pt-BR" dirty="0"/>
          </a:p>
        </p:txBody>
      </p:sp>
      <p:sp>
        <p:nvSpPr>
          <p:cNvPr id="13" name="CaixaDeTexto 12"/>
          <p:cNvSpPr txBox="1"/>
          <p:nvPr/>
        </p:nvSpPr>
        <p:spPr>
          <a:xfrm>
            <a:off x="1406236" y="2753292"/>
            <a:ext cx="59920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Equipe: Bruno e </a:t>
            </a:r>
            <a:r>
              <a:rPr lang="pt-BR" dirty="0" err="1" smtClean="0"/>
              <a:t>Lucca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12992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ase">
  <a:themeElements>
    <a:clrScheme name="Bas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DF5327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Base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e">
      <a:fillStyleLst>
        <a:solidFill>
          <a:schemeClr val="phClr"/>
        </a:solidFill>
        <a:solidFill>
          <a:schemeClr val="phClr">
            <a:tint val="63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446C221D-F63F-4DD8-B509-CFE168687BF2}"/>
    </a:ext>
  </a:ext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TM03457444[[fn=Base]]</Template>
  <TotalTime>11</TotalTime>
  <Words>772</Words>
  <Application>Microsoft Office PowerPoint</Application>
  <PresentationFormat>Apresentação na tela (16:9)</PresentationFormat>
  <Paragraphs>83</Paragraphs>
  <Slides>13</Slides>
  <Notes>13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8" baseType="lpstr">
      <vt:lpstr>Calibri</vt:lpstr>
      <vt:lpstr>Corbel</vt:lpstr>
      <vt:lpstr>Roboto Mono</vt:lpstr>
      <vt:lpstr>Roboto Slab ExtraBold</vt:lpstr>
      <vt:lpstr>Base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Usuário</cp:lastModifiedBy>
  <cp:revision>3</cp:revision>
  <dcterms:created xsi:type="dcterms:W3CDTF">2026-06-11T17:42:55Z</dcterms:created>
  <dcterms:modified xsi:type="dcterms:W3CDTF">2026-06-11T18:05:34Z</dcterms:modified>
</cp:coreProperties>
</file>